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0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DATASET  |  TABPFN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65760" y="493776"/>
            <a:ext cx="11430000" cy="0"/>
          </a:xfrm>
          <a:prstGeom prst="line">
            <a:avLst/>
          </a:prstGeom>
          <a:noFill/>
          <a:ln w="6350">
            <a:solidFill>
              <a:srgbClr val="005E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21792"/>
            <a:ext cx="5074920" cy="5897880"/>
          </a:xfrm>
          <a:prstGeom prst="rect">
            <a:avLst/>
          </a:prstGeom>
          <a:solidFill>
            <a:srgbClr val="0C1B2B"/>
          </a:solidFill>
          <a:ln w="19050">
            <a:solidFill>
              <a:srgbClr val="00BF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74980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TabPFN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38912" y="117043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one row per (user, item) pair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508760"/>
          <a:ext cx="91440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43000"/>
                <a:gridCol w="658368"/>
                <a:gridCol w="1005840"/>
                <a:gridCol w="576072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B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× Item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B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B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B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B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4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U001 × I042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 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U001 × I087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4A3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  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B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U002 × I042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 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U003 × I012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Baby Products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B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U004 × I087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4A3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  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U005 × I103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4A3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  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B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U006 × I012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Baby Products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38912" y="62179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4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new item — no prior interaction history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04104" y="3429000"/>
            <a:ext cx="173736" cy="0"/>
          </a:xfrm>
          <a:prstGeom prst="line">
            <a:avLst/>
          </a:prstGeom>
          <a:noFill/>
          <a:ln w="31750">
            <a:solidFill>
              <a:srgbClr val="00BF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68112" y="3255264"/>
            <a:ext cx="237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FD8"/>
                </a:solidFill>
              </a:rPr>
              <a:t>▶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0" y="2286000"/>
            <a:ext cx="1600200" cy="2286000"/>
          </a:xfrm>
          <a:prstGeom prst="rect">
            <a:avLst/>
          </a:prstGeom>
          <a:solidFill>
            <a:srgbClr val="09151F"/>
          </a:solidFill>
          <a:ln w="25400">
            <a:solidFill>
              <a:srgbClr val="00BF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25312" y="2542032"/>
            <a:ext cx="149962" cy="149962"/>
          </a:xfrm>
          <a:prstGeom prst="ellipse">
            <a:avLst/>
          </a:prstGeom>
          <a:solidFill>
            <a:srgbClr val="005E6E"/>
          </a:solidFill>
          <a:ln w="1270">
            <a:solidFill>
              <a:srgbClr val="005E6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73952" y="2542032"/>
            <a:ext cx="149962" cy="149962"/>
          </a:xfrm>
          <a:prstGeom prst="ellipse">
            <a:avLst/>
          </a:prstGeom>
          <a:solidFill>
            <a:srgbClr val="00BFD8"/>
          </a:solidFill>
          <a:ln w="1270">
            <a:solidFill>
              <a:srgbClr val="00BF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022592" y="2542032"/>
            <a:ext cx="149962" cy="149962"/>
          </a:xfrm>
          <a:prstGeom prst="ellipse">
            <a:avLst/>
          </a:prstGeom>
          <a:solidFill>
            <a:srgbClr val="005E6E"/>
          </a:solidFill>
          <a:ln w="1270">
            <a:solidFill>
              <a:srgbClr val="005E6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25312" y="2962656"/>
            <a:ext cx="149962" cy="149962"/>
          </a:xfrm>
          <a:prstGeom prst="ellipse">
            <a:avLst/>
          </a:prstGeom>
          <a:solidFill>
            <a:srgbClr val="005E6E"/>
          </a:solidFill>
          <a:ln w="1270">
            <a:solidFill>
              <a:srgbClr val="005E6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73952" y="2962656"/>
            <a:ext cx="149962" cy="149962"/>
          </a:xfrm>
          <a:prstGeom prst="ellipse">
            <a:avLst/>
          </a:prstGeom>
          <a:solidFill>
            <a:srgbClr val="00BFD8"/>
          </a:solidFill>
          <a:ln w="1270">
            <a:solidFill>
              <a:srgbClr val="00BF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022592" y="2962656"/>
            <a:ext cx="149962" cy="149962"/>
          </a:xfrm>
          <a:prstGeom prst="ellipse">
            <a:avLst/>
          </a:prstGeom>
          <a:solidFill>
            <a:srgbClr val="005E6E"/>
          </a:solidFill>
          <a:ln w="1270">
            <a:solidFill>
              <a:srgbClr val="005E6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25312" y="3383280"/>
            <a:ext cx="149962" cy="149962"/>
          </a:xfrm>
          <a:prstGeom prst="ellipse">
            <a:avLst/>
          </a:prstGeom>
          <a:solidFill>
            <a:srgbClr val="005E6E"/>
          </a:solidFill>
          <a:ln w="1270">
            <a:solidFill>
              <a:srgbClr val="005E6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73952" y="3383280"/>
            <a:ext cx="149962" cy="149962"/>
          </a:xfrm>
          <a:prstGeom prst="ellipse">
            <a:avLst/>
          </a:prstGeom>
          <a:solidFill>
            <a:srgbClr val="00BFD8"/>
          </a:solidFill>
          <a:ln w="1270">
            <a:solidFill>
              <a:srgbClr val="00BFD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022592" y="3383280"/>
            <a:ext cx="149962" cy="149962"/>
          </a:xfrm>
          <a:prstGeom prst="ellipse">
            <a:avLst/>
          </a:prstGeom>
          <a:solidFill>
            <a:srgbClr val="005E6E"/>
          </a:solidFill>
          <a:ln w="1270">
            <a:solidFill>
              <a:srgbClr val="005E6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75274" y="2617013"/>
            <a:ext cx="398678" cy="0"/>
          </a:xfrm>
          <a:prstGeom prst="line">
            <a:avLst/>
          </a:prstGeom>
          <a:noFill/>
          <a:ln w="5080">
            <a:solidFill>
              <a:srgbClr val="005E6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623914" y="2617013"/>
            <a:ext cx="398678" cy="0"/>
          </a:xfrm>
          <a:prstGeom prst="line">
            <a:avLst/>
          </a:prstGeom>
          <a:noFill/>
          <a:ln w="5080">
            <a:solidFill>
              <a:srgbClr val="005E6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75274" y="3037637"/>
            <a:ext cx="398678" cy="0"/>
          </a:xfrm>
          <a:prstGeom prst="line">
            <a:avLst/>
          </a:prstGeom>
          <a:noFill/>
          <a:ln w="5080">
            <a:solidFill>
              <a:srgbClr val="005E6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623914" y="3037637"/>
            <a:ext cx="398678" cy="0"/>
          </a:xfrm>
          <a:prstGeom prst="line">
            <a:avLst/>
          </a:prstGeom>
          <a:noFill/>
          <a:ln w="5080">
            <a:solidFill>
              <a:srgbClr val="005E6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075274" y="3458261"/>
            <a:ext cx="398678" cy="0"/>
          </a:xfrm>
          <a:prstGeom prst="line">
            <a:avLst/>
          </a:prstGeom>
          <a:noFill/>
          <a:ln w="5080">
            <a:solidFill>
              <a:srgbClr val="005E6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623914" y="3458261"/>
            <a:ext cx="398678" cy="0"/>
          </a:xfrm>
          <a:prstGeom prst="line">
            <a:avLst/>
          </a:prstGeom>
          <a:noFill/>
          <a:ln w="5080">
            <a:solidFill>
              <a:srgbClr val="005E6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15000" y="39502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TABPFN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715000" y="425196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0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324344" y="3429000"/>
            <a:ext cx="256032" cy="0"/>
          </a:xfrm>
          <a:prstGeom prst="line">
            <a:avLst/>
          </a:prstGeom>
          <a:noFill/>
          <a:ln w="31750">
            <a:solidFill>
              <a:srgbClr val="00BF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488936" y="3255264"/>
            <a:ext cx="237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FD8"/>
                </a:solidFill>
              </a:rPr>
              <a:t>▶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589520" y="62179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of Recommendation Cards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7589520" y="1152144"/>
            <a:ext cx="4297680" cy="804672"/>
          </a:xfrm>
          <a:prstGeom prst="rect">
            <a:avLst/>
          </a:prstGeom>
          <a:solidFill>
            <a:srgbClr val="0B2030"/>
          </a:solidFill>
          <a:ln w="25400">
            <a:solidFill>
              <a:srgbClr val="00BFD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717536" y="135331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8092440" y="12527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Laptop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092440" y="16276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082528" y="12801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</a:t>
            </a:r>
            <a:endParaRPr lang="en-US" sz="2600" dirty="0"/>
          </a:p>
        </p:txBody>
      </p:sp>
      <p:sp>
        <p:nvSpPr>
          <p:cNvPr id="37" name="Shape 34"/>
          <p:cNvSpPr/>
          <p:nvPr/>
        </p:nvSpPr>
        <p:spPr>
          <a:xfrm>
            <a:off x="8092440" y="1792224"/>
            <a:ext cx="3063240" cy="91440"/>
          </a:xfrm>
          <a:prstGeom prst="rect">
            <a:avLst/>
          </a:prstGeom>
          <a:solidFill>
            <a:srgbClr val="2C4D66"/>
          </a:solidFill>
          <a:ln w="1270">
            <a:solidFill>
              <a:srgbClr val="2C4D66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092440" y="1792224"/>
            <a:ext cx="2910078" cy="91440"/>
          </a:xfrm>
          <a:prstGeom prst="rect">
            <a:avLst/>
          </a:prstGeom>
          <a:solidFill>
            <a:srgbClr val="00BFD8"/>
          </a:solidFill>
          <a:ln w="1270">
            <a:solidFill>
              <a:srgbClr val="00BFD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589520" y="2039112"/>
            <a:ext cx="4297680" cy="804672"/>
          </a:xfrm>
          <a:prstGeom prst="rect">
            <a:avLst/>
          </a:prstGeom>
          <a:solidFill>
            <a:srgbClr val="0C1B2B"/>
          </a:solidFill>
          <a:ln w="9525">
            <a:solidFill>
              <a:srgbClr val="1A3A5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717536" y="224028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8092440" y="213969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Headphones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8092440" y="2496312"/>
            <a:ext cx="566928" cy="228600"/>
          </a:xfrm>
          <a:prstGeom prst="rect">
            <a:avLst/>
          </a:prstGeom>
          <a:solidFill>
            <a:srgbClr val="7B3FA5"/>
          </a:solidFill>
          <a:ln w="6350">
            <a:solidFill>
              <a:srgbClr val="C4A3E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092440" y="2496312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1082528" y="216712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</a:t>
            </a:r>
            <a:endParaRPr lang="en-US" sz="2600" dirty="0"/>
          </a:p>
        </p:txBody>
      </p:sp>
      <p:sp>
        <p:nvSpPr>
          <p:cNvPr id="45" name="Shape 42"/>
          <p:cNvSpPr/>
          <p:nvPr/>
        </p:nvSpPr>
        <p:spPr>
          <a:xfrm>
            <a:off x="8092440" y="2679192"/>
            <a:ext cx="3063240" cy="91440"/>
          </a:xfrm>
          <a:prstGeom prst="rect">
            <a:avLst/>
          </a:prstGeom>
          <a:solidFill>
            <a:srgbClr val="2C4D66"/>
          </a:solidFill>
          <a:ln w="1270">
            <a:solidFill>
              <a:srgbClr val="2C4D66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092440" y="2679192"/>
            <a:ext cx="2450592" cy="91440"/>
          </a:xfrm>
          <a:prstGeom prst="rect">
            <a:avLst/>
          </a:prstGeom>
          <a:solidFill>
            <a:srgbClr val="005E6E"/>
          </a:solidFill>
          <a:ln w="1270">
            <a:solidFill>
              <a:srgbClr val="005E6E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589520" y="2926080"/>
            <a:ext cx="4297680" cy="804672"/>
          </a:xfrm>
          <a:prstGeom prst="rect">
            <a:avLst/>
          </a:prstGeom>
          <a:solidFill>
            <a:srgbClr val="0C1B2B"/>
          </a:solidFill>
          <a:ln w="9525">
            <a:solidFill>
              <a:srgbClr val="1A3A5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717536" y="3127248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9" name="Text 46"/>
          <p:cNvSpPr/>
          <p:nvPr/>
        </p:nvSpPr>
        <p:spPr>
          <a:xfrm>
            <a:off x="8092440" y="302666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Watch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8092440" y="34015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1082528" y="3054096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</a:t>
            </a:r>
            <a:endParaRPr lang="en-US" sz="2600" dirty="0"/>
          </a:p>
        </p:txBody>
      </p:sp>
      <p:sp>
        <p:nvSpPr>
          <p:cNvPr id="52" name="Shape 49"/>
          <p:cNvSpPr/>
          <p:nvPr/>
        </p:nvSpPr>
        <p:spPr>
          <a:xfrm>
            <a:off x="8092440" y="3566160"/>
            <a:ext cx="3063240" cy="91440"/>
          </a:xfrm>
          <a:prstGeom prst="rect">
            <a:avLst/>
          </a:prstGeom>
          <a:solidFill>
            <a:srgbClr val="2C4D66"/>
          </a:solidFill>
          <a:ln w="1270">
            <a:solidFill>
              <a:srgbClr val="2C4D66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092440" y="3566160"/>
            <a:ext cx="2067687" cy="91440"/>
          </a:xfrm>
          <a:prstGeom prst="rect">
            <a:avLst/>
          </a:prstGeom>
          <a:solidFill>
            <a:srgbClr val="005E6E"/>
          </a:solidFill>
          <a:ln w="1270">
            <a:solidFill>
              <a:srgbClr val="005E6E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589520" y="3813048"/>
            <a:ext cx="4297680" cy="804672"/>
          </a:xfrm>
          <a:prstGeom prst="rect">
            <a:avLst/>
          </a:prstGeom>
          <a:solidFill>
            <a:srgbClr val="0C1B2B"/>
          </a:solidFill>
          <a:ln w="9525">
            <a:solidFill>
              <a:srgbClr val="1A3A5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717536" y="4014216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56" name="Text 53"/>
          <p:cNvSpPr/>
          <p:nvPr/>
        </p:nvSpPr>
        <p:spPr>
          <a:xfrm>
            <a:off x="8092440" y="391363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Speaker</a:t>
            </a:r>
            <a:endParaRPr lang="en-US" sz="1300" dirty="0"/>
          </a:p>
        </p:txBody>
      </p:sp>
      <p:sp>
        <p:nvSpPr>
          <p:cNvPr id="57" name="Shape 54"/>
          <p:cNvSpPr/>
          <p:nvPr/>
        </p:nvSpPr>
        <p:spPr>
          <a:xfrm>
            <a:off x="8092440" y="4270248"/>
            <a:ext cx="566928" cy="228600"/>
          </a:xfrm>
          <a:prstGeom prst="rect">
            <a:avLst/>
          </a:prstGeom>
          <a:solidFill>
            <a:srgbClr val="7B3FA5"/>
          </a:solidFill>
          <a:ln w="6350">
            <a:solidFill>
              <a:srgbClr val="C4A3E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092440" y="427024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11082528" y="3941064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</a:t>
            </a:r>
            <a:endParaRPr lang="en-US" sz="2600" dirty="0"/>
          </a:p>
        </p:txBody>
      </p:sp>
      <p:sp>
        <p:nvSpPr>
          <p:cNvPr id="60" name="Shape 57"/>
          <p:cNvSpPr/>
          <p:nvPr/>
        </p:nvSpPr>
        <p:spPr>
          <a:xfrm>
            <a:off x="8092440" y="4453128"/>
            <a:ext cx="3063240" cy="91440"/>
          </a:xfrm>
          <a:prstGeom prst="rect">
            <a:avLst/>
          </a:prstGeom>
          <a:solidFill>
            <a:srgbClr val="2C4D66"/>
          </a:solidFill>
          <a:ln w="1270">
            <a:solidFill>
              <a:srgbClr val="2C4D66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8092440" y="4453128"/>
            <a:ext cx="1608201" cy="91440"/>
          </a:xfrm>
          <a:prstGeom prst="rect">
            <a:avLst/>
          </a:prstGeom>
          <a:solidFill>
            <a:srgbClr val="005E6E"/>
          </a:solidFill>
          <a:ln w="1270">
            <a:solidFill>
              <a:srgbClr val="005E6E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589520" y="4700016"/>
            <a:ext cx="4297680" cy="804672"/>
          </a:xfrm>
          <a:prstGeom prst="rect">
            <a:avLst/>
          </a:prstGeom>
          <a:solidFill>
            <a:srgbClr val="0C1B2B"/>
          </a:solidFill>
          <a:ln w="9525">
            <a:solidFill>
              <a:srgbClr val="1A3A5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717536" y="4901184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64" name="Text 61"/>
          <p:cNvSpPr/>
          <p:nvPr/>
        </p:nvSpPr>
        <p:spPr>
          <a:xfrm>
            <a:off x="8092440" y="48006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Case</a:t>
            </a:r>
            <a:endParaRPr lang="en-US" sz="1300" dirty="0"/>
          </a:p>
        </p:txBody>
      </p:sp>
      <p:sp>
        <p:nvSpPr>
          <p:cNvPr id="65" name="Text 62"/>
          <p:cNvSpPr/>
          <p:nvPr/>
        </p:nvSpPr>
        <p:spPr>
          <a:xfrm>
            <a:off x="8092440" y="51755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11082528" y="482803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2600" dirty="0"/>
          </a:p>
        </p:txBody>
      </p:sp>
      <p:sp>
        <p:nvSpPr>
          <p:cNvPr id="67" name="Shape 64"/>
          <p:cNvSpPr/>
          <p:nvPr/>
        </p:nvSpPr>
        <p:spPr>
          <a:xfrm>
            <a:off x="8092440" y="5340096"/>
            <a:ext cx="3063240" cy="91440"/>
          </a:xfrm>
          <a:prstGeom prst="rect">
            <a:avLst/>
          </a:prstGeom>
          <a:solidFill>
            <a:srgbClr val="2C4D66"/>
          </a:solidFill>
          <a:ln w="1270">
            <a:solidFill>
              <a:srgbClr val="2C4D66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8092440" y="5340096"/>
            <a:ext cx="1148715" cy="91440"/>
          </a:xfrm>
          <a:prstGeom prst="rect">
            <a:avLst/>
          </a:prstGeom>
          <a:solidFill>
            <a:srgbClr val="005E6E"/>
          </a:solidFill>
          <a:ln w="1270">
            <a:solidFill>
              <a:srgbClr val="005E6E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7589520" y="5586984"/>
            <a:ext cx="4297680" cy="804672"/>
          </a:xfrm>
          <a:prstGeom prst="rect">
            <a:avLst/>
          </a:prstGeom>
          <a:solidFill>
            <a:srgbClr val="0C1B2B"/>
          </a:solidFill>
          <a:ln w="9525">
            <a:solidFill>
              <a:srgbClr val="1A3A50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7717536" y="578815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71" name="Text 68"/>
          <p:cNvSpPr/>
          <p:nvPr/>
        </p:nvSpPr>
        <p:spPr>
          <a:xfrm>
            <a:off x="8092440" y="56875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 Hub</a:t>
            </a:r>
            <a:endParaRPr lang="en-US" sz="1300" dirty="0"/>
          </a:p>
        </p:txBody>
      </p:sp>
      <p:sp>
        <p:nvSpPr>
          <p:cNvPr id="72" name="Text 69"/>
          <p:cNvSpPr/>
          <p:nvPr/>
        </p:nvSpPr>
        <p:spPr>
          <a:xfrm>
            <a:off x="8092440" y="60624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11082528" y="57150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7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</a:t>
            </a:r>
            <a:endParaRPr lang="en-US" sz="2600" dirty="0"/>
          </a:p>
        </p:txBody>
      </p:sp>
      <p:sp>
        <p:nvSpPr>
          <p:cNvPr id="74" name="Shape 71"/>
          <p:cNvSpPr/>
          <p:nvPr/>
        </p:nvSpPr>
        <p:spPr>
          <a:xfrm>
            <a:off x="8092440" y="6227064"/>
            <a:ext cx="3063240" cy="91440"/>
          </a:xfrm>
          <a:prstGeom prst="rect">
            <a:avLst/>
          </a:prstGeom>
          <a:solidFill>
            <a:srgbClr val="2C4D66"/>
          </a:solidFill>
          <a:ln w="1270">
            <a:solidFill>
              <a:srgbClr val="2C4D66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8092440" y="6227064"/>
            <a:ext cx="765810" cy="91440"/>
          </a:xfrm>
          <a:prstGeom prst="rect">
            <a:avLst/>
          </a:prstGeom>
          <a:solidFill>
            <a:srgbClr val="005E6E"/>
          </a:solidFill>
          <a:ln w="1270">
            <a:solidFill>
              <a:srgbClr val="005E6E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2026-04-03T19:09:21Z</dcterms:created>
  <dcterms:modified xsi:type="dcterms:W3CDTF">2026-04-03T19:09:21Z</dcterms:modified>
</cp:coreProperties>
</file>